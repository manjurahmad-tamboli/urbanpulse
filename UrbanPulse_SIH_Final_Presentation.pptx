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Problem Statement ID: 26124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Problem Statement Title</a:t>
            </a:r>
          </a:p>
          <a:p>
            <a:pPr>
              <a:spcAft>
                <a:spcPts val="1600"/>
              </a:spcAft>
              <a:defRPr sz="2200" b="1">
                <a:solidFill>
                  <a:srgbClr val="0284C7"/>
                </a:solidFill>
                <a:latin typeface="Arial"/>
              </a:defRPr>
            </a:pPr>
            <a:r>
              <a:t>AI-Powered Mobile Urban</a:t>
            </a:r>
            <a:br/>
            <a:r>
              <a:t>Intelligence Platform Using</a:t>
            </a:r>
            <a:br/>
            <a:r>
              <a:t>Public Transport Fleet</a:t>
            </a:r>
          </a:p>
          <a:p>
            <a:pPr>
              <a:spcAft>
                <a:spcPts val="1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Organization / Department</a:t>
            </a:r>
            <a:br/>
            <a:r>
              <a:t>Bharat Electronics Limited</a:t>
            </a:r>
          </a:p>
          <a:p>
            <a:pPr>
              <a:spcAft>
                <a:spcPts val="1600"/>
              </a:spcAft>
              <a:defRPr sz="1300" b="1">
                <a:solidFill>
                  <a:srgbClr val="334155"/>
                </a:solidFill>
                <a:latin typeface="Arial"/>
              </a:defRPr>
            </a:pPr>
            <a:r>
              <a:t>Theme: Smart Automation</a:t>
            </a:r>
            <a:br/>
            <a:r>
              <a:t>PS Category: Software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Team ID: SIH-SW58</a:t>
            </a:r>
            <a:br/>
            <a:r>
              <a:t>Team Name: Team UrbanPulse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  <a:latin typeface="Arial"/>
              </a:defRPr>
            </a:pPr>
            <a:br/>
            <a:br/>
            <a:r>
              <a:t>💡</a:t>
            </a:r>
            <a:br/>
            <a:br/>
            <a:r>
              <a:t>SMART INDIA HACKATHON</a:t>
            </a:r>
            <a:br/>
            <a:r>
              <a:t>2026</a:t>
            </a:r>
            <a:br/>
            <a:br/>
            <a:r>
              <a:t>BEL • PS-26124</a:t>
            </a:r>
            <a:br/>
            <a:r>
              <a:t>Smart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Proposed Solution: UrbanPulse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371600" cy="274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Team UrbanPulse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Arial"/>
              </a:defRPr>
            </a:pPr>
            <a:r>
              <a:t>UrbanPulse: Transforming Public Buses into Mobile Urban Sensing Units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Detailed Explanation of Proposed Solution</a:t>
            </a:r>
          </a:p>
          <a:p>
            <a:pPr>
              <a:spcAft>
                <a:spcPts val="10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• Transforms regular city buses into mobile sensing units using onboard cameras and edge AI.</a:t>
            </a:r>
            <a:br/>
            <a:r>
              <a:t>• Automatically detects road defects (potholes, waterlogging, broken dividers, faded zebra crossings), traffic bottlenecks, and safety incidents.</a:t>
            </a:r>
            <a:br/>
            <a:r>
              <a:t>• Attaches high-precision GPS coordinates, timestamps, and cropped evidence snapshots, transmitting metadata to a central command dashboard for automated municipal action.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Innovation &amp; Uniqueness of the Solution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★ Multi-Sensor Fusion: Visual YOLOv8 bounding boxes are cross-referenced with a 6-DOF IMU accelerometer Z-axis vibration spike (&gt;1.8G) to eliminate shadow and oil-stain false positives.</a:t>
            </a:r>
            <a:br/>
            <a:r>
              <a:t>★ Security &amp; ANPR: High-Security Registration Plate (HSRP) OCR with 96.4% confidence, hit-and-run vehicle tracking, and speed estimation with direct police dispatch.</a:t>
            </a:r>
            <a:br/>
            <a:r>
              <a:t>★ Closed-Loop Verification: PostGIS 10-meter spatial clustering merges repeat sightings into one ticket; subsequent bus passes automatically re-scan and verify PWD repairs.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How It Addresses the Problem (5-Step Lifecycle)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91640"/>
            <a:ext cx="493776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1. Multi-Sensor Edge Detection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Camera video feed + 6-DOF IMU accelerometer processed locally on bus at 28 FPS via YOLOv8.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606040"/>
            <a:ext cx="493776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2. Smart Verification &amp; 14.8 KB Upload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Uploads only 14.8 KB metadata payload (98.7% bandwidth reduction); raw video saved for Depot Wi-Fi 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520440"/>
            <a:ext cx="493776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D97706"/>
                </a:solidFill>
                <a:latin typeface="Arial"/>
              </a:defRPr>
            </a:pPr>
            <a:r>
              <a:t>3. GIS Mapping &amp; 10m Spatial Clustering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PostGIS clusters sightings within 10 meters, eliminating duplicate complaint tickets across multiple buses.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434840"/>
            <a:ext cx="493776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334155"/>
                </a:solidFill>
                <a:latin typeface="Arial"/>
              </a:defRPr>
            </a:pPr>
            <a:r>
              <a:t>4. Automated Municipal Authority Action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Instant work order generation for PWD road engineers and one-click dispatch for traffic police.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349240"/>
            <a:ext cx="493776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defRPr sz="1000" b="1">
                <a:solidFill>
                  <a:srgbClr val="16A34A"/>
                </a:solidFill>
                <a:latin typeface="Arial"/>
              </a:defRPr>
            </a:pPr>
            <a:r>
              <a:t>5. Closed-Loop AI Repair Verification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Next bus pass automatically scans repaired pavement coordinates, verifying patch quality (Score: 42 → 95).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371600" cy="274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Team UrbanPulse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43891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Methodology &amp; Implementation Pipeline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① SENSE</a:t>
            </a:r>
          </a:p>
          <a:p>
            <a:pPr>
              <a:spcAft>
                <a:spcPts val="4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Multi-camera RTSP ingestion (Front 1080p, Side 720p) + GNSS/GPS + 6-DOF IMU accelerometer.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② DETECT</a:t>
            </a:r>
          </a:p>
          <a:p>
            <a:pPr>
              <a:spcAft>
                <a:spcPts val="4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YOLOv8 &amp; ByteTrack for road defects, vehicle speed estimation, and HSRP number plate detection.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③ VERIFY</a:t>
            </a:r>
          </a:p>
          <a:p>
            <a:pPr>
              <a:spcAft>
                <a:spcPts val="4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Multi-sensor fusion: optical bounding box validated against vertical accelerometer shock (&gt;1.8G).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④ TRANSMIT</a:t>
            </a:r>
          </a:p>
          <a:p>
            <a:pPr>
              <a:spcAft>
                <a:spcPts val="4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Store-and-forward SQLite buffer; 14.8 KB JSON telemetry via 4G/5G; bulk video offloaded over Depot Wi-Fi 6.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⑤ ANALYZE</a:t>
            </a:r>
          </a:p>
          <a:p>
            <a:pPr>
              <a:spcAft>
                <a:spcPts val="4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FastAPI ingestion, PostGIS 10m spatial clustering, TimescaleDB, and Origin-Destination (OD) traffic matrix.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⑥ ACT</a:t>
            </a:r>
          </a:p>
          <a:p>
            <a:pPr>
              <a:spcAft>
                <a:spcPts val="4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Interactive Next.js 16 Command Center, automated PWD work orders, and police incident dispatch.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00584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Technology Stack &amp; System Specifications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94960" y="1371600"/>
          <a:ext cx="6035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286000"/>
                <a:gridCol w="2560320"/>
              </a:tblGrid>
              <a:tr h="69494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Technologies / Tools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Purpose &amp; System Role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Edge AI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Python 3.11, YOLOv8, ByteTrack, PaddleOCR (HSRP), 6-DOF IMU Fusion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Real-time road defect detection, vehicle tracking, HSRP plate OCR (96.4%), and physical bump validation at 28 FPS.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Next.js 16 (React 19), FastAPI, PostgreSQL / PostGIS, TimescaleDB, Leaflet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Central Command Center, 10m spatial deduplication, Origin-Destination (OD) traffic matrix, and municipal APIs.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NVIDIA Jetson Orin Nano (8GB), Docker, TensorRT FP16, Depot Wi-Fi 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Ruggedized vehicle edge compute, quantized inference, 14.8 KB payload upload, and overnight depot sync.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Pilot 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Label Studio, RDD2022 dataset, Kolhapur MSRTC/KMT transit corridors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Validation on real Indian road imagery, held-out test routes, and field calibration on municipal bus fleet.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94960" y="5029200"/>
            <a:ext cx="6035040" cy="118872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0284C7"/>
                </a:solidFill>
                <a:latin typeface="Arial"/>
              </a:defRPr>
            </a:pPr>
            <a:r>
              <a:t>⚡ Bandwidth Breakthrough: Zero Cellular Bill Shock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Continuous 1080p video streaming over 4G would cost lakhs/month per bus. UrbanPulse edge processing transmits only 14.8 KB JSON telemetry + crop per defect, achieving 98.7% bandwidth reduction while saving high-res video for zero-cost Depot Wi-Fi 6 offloading.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371600" cy="274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Team UrbanPulse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0584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114800"/>
                <a:gridCol w="5852160"/>
              </a:tblGrid>
              <a:tr h="49638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Potential Challenges &amp; Operational Risks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Strategies &amp; Implementation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Lighting, rain, dust &amp; visibility issues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Sony STARVIS HDR image sensors with high dynamic range; models trained on Indian monsoon &amp; dusk datasets (RDD2022).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False detections (shadows, oil stains, leaves)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Dual-validation: visual bounding box cross-referenced with 6-DOF IMU vertical vibration shock (&gt;1.8G) to confirm physical defect.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Citizen privacy &amp; data security concerns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Edge privacy pipeline: real-time Gaussian blurring of human faces and non-offending license plates; TLS 1.3 encrypted MQTT payload.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Cellular connectivity &amp; bandwidth limits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Store-and-forward local SQLite queue on bus; transmits 14.8 KB metadata over 4G/5G; bulk offloads high-res clips via Depot Wi-Fi 6.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Thermal heat &amp; automotive power limits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TensorRT INT8 quantization runs cool on NVIDIA Jetson Orin Nano (15W); 12/24V isolated DC-DC buck converter with ignition delay shutoff.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GPS multi-path errors &amp; model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PostGIS ST_DWithin 10-meter spatial clustering merges duplicate sightings; continuous active learning retraining pipeline.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6634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Analysis of Pilot Feasibility &amp; Phased Commercial Rollout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33832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Phase 1: Proof of Concept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5 Buses • 2 Routes</a:t>
            </a:r>
            <a:br/>
            <a:r>
              <a:t>BOM: ₹42,000/bus</a:t>
            </a:r>
            <a:br/>
            <a:r>
              <a:t>Validate core detection, GPS accuracy (&lt;2.5m) &amp; 14.8 KB payload.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5029200"/>
            <a:ext cx="33832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Phase 2: Extended Pilot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20 Buses • 8 Routes</a:t>
            </a:r>
            <a:br/>
            <a:r>
              <a:t>Add Traffic OD matrix, ANPR hit-and-run tracking, and School Zone safety.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5029200"/>
            <a:ext cx="33832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Phase 3: Scale &amp; Rollout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200 Buses • City-Wide</a:t>
            </a:r>
            <a:br/>
            <a:r>
              <a:t>Full municipal PWD &amp; Police integration; annual savings ₹1.8 Crore; ROI &lt; 6 mos.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371600" cy="274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Team UrbanPulse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0292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Potential Impact on Target Stakeholders</a:t>
            </a:r>
          </a:p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★ Citizens &amp; Pedestrians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  • Safer roads, reduced vehicle maintenance costs, and fewer two-wheeler accidents.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  • School Zone Safety: Real-time warnings for active student crossings &amp; faded zebra crossings (e.g. 38% visibility alerts).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  • Transparent governance through automated defect tracking and verified repair timelines.</a:t>
            </a:r>
          </a:p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★ Police &amp; Law Enforcement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  • High-Security Registration Plate (HSRP) OCR with 96.4% confidence.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  • Hit-and-Run Investigation: Multi-bus handoff tracks suspect vehicles across transit corridors.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  • Rash Driving Detection: Speed estimation via optical flow enables automated e-challan generation.</a:t>
            </a:r>
          </a:p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★ Municipal Corporation &amp; PWD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  • Eliminates manual road surveys; replaces citizen complaints with proactive detection.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  • PostGIS 10m deduplication reduces duplicate complaint tickets by 85%.</a:t>
            </a:r>
          </a:p>
          <a:p>
            <a:pPr>
              <a:spcAft>
                <a:spcPts val="200"/>
              </a:spcAft>
              <a:defRPr sz="850">
                <a:solidFill>
                  <a:srgbClr val="334155"/>
                </a:solidFill>
                <a:latin typeface="Calibri"/>
              </a:defRPr>
            </a:pPr>
            <a:r>
              <a:t>  • Closed-Loop Verification: Automates contractor repair verification before issuing bill payments.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097280"/>
            <a:ext cx="26060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0284C7"/>
                </a:solidFill>
                <a:latin typeface="Arial"/>
              </a:defRPr>
            </a:pPr>
            <a:r>
              <a:t>Operational Benefits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Real-time road health heatmaps (RHI 0-100)</a:t>
            </a:r>
            <a:br/>
            <a:r>
              <a:t>• PostGIS 10m clustering cuts ticket spam by 85%</a:t>
            </a:r>
            <a:br/>
            <a:r>
              <a:t>• Origin-Destination (OD) traffic matrix optimizes bus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097280"/>
            <a:ext cx="26060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Economic Benefits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₹1.8 Crore annual savings per 100 buses</a:t>
            </a:r>
            <a:br/>
            <a:r>
              <a:t>• ₹42,000 BOM cost per bus kit (Payback &lt; 6 mos)</a:t>
            </a:r>
            <a:br/>
            <a:r>
              <a:t>• Eliminates costly manual road survey contracts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703320"/>
            <a:ext cx="26060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16A34A"/>
                </a:solidFill>
                <a:latin typeface="Arial"/>
              </a:defRPr>
            </a:pPr>
            <a:r>
              <a:t>Environmental Benefits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Zero dedicated survey vehicle emissions</a:t>
            </a:r>
            <a:br/>
            <a:r>
              <a:t>• Smooth asphalt reduces vehicle fuel burn by 4.2%</a:t>
            </a:r>
            <a:br/>
            <a:r>
              <a:t>• Choke-point resolution cuts city idling emissions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3703320"/>
            <a:ext cx="2606040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Social &amp; Public Safety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Protected school zones with crossing density alerts</a:t>
            </a:r>
            <a:br/>
            <a:r>
              <a:t>• 96.4% HSRP OCR assists hit-and-run investigation</a:t>
            </a:r>
            <a:br/>
            <a:r>
              <a:t>• Verifiable before/after photo evidence for audits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2743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RESEARCH, REFERENCES &amp; LIVE SHOWCASE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371600" cy="274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Team UrbanPulse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Details / Links of Reference &amp; Research Work</a:t>
            </a:r>
          </a:p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• Ultralytics YOLOv8 &amp; ByteTrack</a:t>
            </a:r>
          </a:p>
          <a:p>
            <a:pPr>
              <a:spcAft>
                <a:spcPts val="300"/>
              </a:spcAft>
              <a:defRPr sz="800">
                <a:solidFill>
                  <a:srgbClr val="334155"/>
                </a:solidFill>
                <a:latin typeface="Calibri"/>
              </a:defRPr>
            </a:pPr>
            <a:r>
              <a:t>Detection, tracking, and BoT-SORT integration for moving cameras.</a:t>
            </a:r>
            <a:br/>
            <a:r>
              <a:t>https://docs.ultralytics.com/modes/track/</a:t>
            </a:r>
          </a:p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• OpenCV Computer Vision Library</a:t>
            </a:r>
          </a:p>
          <a:p>
            <a:pPr>
              <a:spcAft>
                <a:spcPts val="300"/>
              </a:spcAft>
              <a:defRPr sz="800">
                <a:solidFill>
                  <a:srgbClr val="334155"/>
                </a:solidFill>
                <a:latin typeface="Calibri"/>
              </a:defRPr>
            </a:pPr>
            <a:r>
              <a:t>Real-time video processing, lens calibration, and image preprocessing.</a:t>
            </a:r>
            <a:br/>
            <a:r>
              <a:t>https://opencv.org/</a:t>
            </a:r>
          </a:p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• NVIDIA Jetson Embedded Platform</a:t>
            </a:r>
          </a:p>
          <a:p>
            <a:pPr>
              <a:spcAft>
                <a:spcPts val="300"/>
              </a:spcAft>
              <a:defRPr sz="800">
                <a:solidFill>
                  <a:srgbClr val="334155"/>
                </a:solidFill>
                <a:latin typeface="Calibri"/>
              </a:defRPr>
            </a:pPr>
            <a:r>
              <a:t>Edge AI hardware, TensorRT quantization, and automotive power management.</a:t>
            </a:r>
            <a:br/>
            <a:r>
              <a:t>https://developer.nvidia.com/embedded-computing</a:t>
            </a:r>
          </a:p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• PostGIS Spatial Database</a:t>
            </a:r>
          </a:p>
          <a:p>
            <a:pPr>
              <a:spcAft>
                <a:spcPts val="300"/>
              </a:spcAft>
              <a:defRPr sz="800">
                <a:solidFill>
                  <a:srgbClr val="334155"/>
                </a:solidFill>
                <a:latin typeface="Calibri"/>
              </a:defRPr>
            </a:pPr>
            <a:r>
              <a:t>ST_DWithin 10m spatial clustering, GIS indexing, and location aggregation.</a:t>
            </a:r>
            <a:br/>
            <a:r>
              <a:t>https://postgis.net/documentation/</a:t>
            </a:r>
          </a:p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• RDD2022, Arya et al. (2022)</a:t>
            </a:r>
          </a:p>
          <a:p>
            <a:pPr>
              <a:spcAft>
                <a:spcPts val="300"/>
              </a:spcAft>
              <a:defRPr sz="800">
                <a:solidFill>
                  <a:srgbClr val="334155"/>
                </a:solidFill>
                <a:latin typeface="Calibri"/>
              </a:defRPr>
            </a:pPr>
            <a:r>
              <a:t>Multi-national road damage dataset including Indian road conditions.</a:t>
            </a:r>
            <a:br/>
            <a:r>
              <a:t>https://arxiv.org/abs/2209.08538</a:t>
            </a:r>
          </a:p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• ByteTrack, Zhang et al. (2022)</a:t>
            </a:r>
          </a:p>
          <a:p>
            <a:pPr>
              <a:spcAft>
                <a:spcPts val="300"/>
              </a:spcAft>
              <a:defRPr sz="800">
                <a:solidFill>
                  <a:srgbClr val="334155"/>
                </a:solidFill>
                <a:latin typeface="Calibri"/>
              </a:defRPr>
            </a:pPr>
            <a:r>
              <a:t>Multi-object tracking by associating low-score detection boxes.</a:t>
            </a:r>
            <a:br/>
            <a:r>
              <a:t>https://arxiv.org/abs/2110.06864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097280"/>
            <a:ext cx="493776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Live Working System Validation Metrics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55448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371600"/>
              </a:tblGrid>
              <a:tr h="3810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 Name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Tested Value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 / Target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AI Processing Speed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28 FPS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Exceeds 20 FPS target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Detection Precision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93.5%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&gt;90% (Sensor fused)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Bandwidth Reduction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14.8 KB payload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HSRP Plate OCR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96.4%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Tested on Indian plates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PostGIS Deduplication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 Meters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Zero duplicate tickets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75120" y="4114800"/>
            <a:ext cx="4572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300"/>
              </a:spcAft>
              <a:defRPr sz="1100" b="1">
                <a:solidFill>
                  <a:srgbClr val="0284C7"/>
                </a:solidFill>
                <a:latin typeface="Arial"/>
              </a:defRPr>
            </a:pPr>
            <a:r>
              <a:t>🚀 Live Web Application &amp; Code Repository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GitHub Repository: https://github.com/manjurahmad-tamboli/UrbanPulse.git</a:t>
            </a:r>
            <a:br/>
            <a:r>
              <a:t>• Working Features: Command Center, Live Bus Tracking, AI Inference Simulator, Road Health Map, Incidents &amp; HSRP ANPR Hub, Traffic OD Matrix, and 15-Step Scripted Scenario.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